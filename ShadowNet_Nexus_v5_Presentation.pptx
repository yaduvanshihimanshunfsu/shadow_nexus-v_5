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554480"/>
            <a:ext cx="9445752" cy="3749039"/>
          </a:xfrm>
          <a:prstGeom prst="rect">
            <a:avLst/>
          </a:prstGeom>
          <a:solidFill>
            <a:srgbClr val="10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73736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F2FF"/>
                </a:solidFill>
              </a:rPr>
              <a:t>ShadowNet Nexus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6974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3366"/>
                </a:solidFill>
              </a:rPr>
              <a:t>v5.0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29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Unified Live Forensic Intelligence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69080"/>
            <a:ext cx="11274552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22452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AAAA"/>
                </a:solidFill>
              </a:rPr>
              <a:t>AI-Powered  ·  Real-Time  ·  Kernel-Level  ·  Self-Healing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8006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Built with Google Gemini 2.5 Flash + Raw NTFS Parsing + Behavioral GMM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20" y="6309360"/>
            <a:ext cx="1371600" cy="32004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V5.0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6309360"/>
            <a:ext cx="1097280" cy="3200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0F2FF"/>
                </a:solidFill>
              </a:rPr>
              <a:t>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63040" cy="347472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B10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Traditional Tools Fail Against Modern Attackers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7432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566160" cy="19202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47472" cy="292608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435607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366"/>
                </a:solidFill>
              </a:rPr>
              <a:t>Living off the 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AAAA"/>
                </a:solidFill>
              </a:rPr>
              <a:t>Attackers use built-in Windows tools (PowerShell, wevtutil, certutil).
No malicious file is ever written — standard AV has nothing to scan.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3566160" cy="19202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417320"/>
            <a:ext cx="347472" cy="292608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1435607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366"/>
                </a:solidFill>
              </a:rPr>
              <a:t>Timestomping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8288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AAAA"/>
                </a:solidFill>
              </a:rPr>
              <a:t>Malware backdates its own file creation date to appear as a
legitimate old system file, defeating timeline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325880"/>
            <a:ext cx="3566160" cy="19202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19" y="1417320"/>
            <a:ext cx="347472" cy="292608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1435607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366"/>
                </a:solidFill>
              </a:rPr>
              <a:t>Volume Shadow Deletion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8288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AAAA"/>
                </a:solidFill>
              </a:rPr>
              <a:t>Ransomware silently runs 'vssadmin delete shadows' to remove
all Windows backups before encrypting your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20440"/>
            <a:ext cx="3566160" cy="19202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347472" cy="292608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63016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366"/>
                </a:solidFill>
              </a:rPr>
              <a:t>High-Entropy Wiping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233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AAAA"/>
                </a:solidFill>
              </a:rPr>
              <a:t>Data wipers overwrite files with pure random bytes or all-zeros.
The original data is gone before anyone notices.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20440"/>
            <a:ext cx="3566160" cy="19202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611880"/>
            <a:ext cx="347472" cy="292608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363016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366"/>
                </a:solidFill>
              </a:rPr>
              <a:t>Automated Bot 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0233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AAAA"/>
                </a:solidFill>
              </a:rPr>
              <a:t>Scripts steal passwords with keystroke speeds physically
impossible for humans — standard tools cannot tell the difference.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520440"/>
            <a:ext cx="3566160" cy="19202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3611880"/>
            <a:ext cx="347472" cy="292608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363016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366"/>
                </a:solidFill>
              </a:rPr>
              <a:t>Log Destruction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0233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AAAAA"/>
                </a:solidFill>
              </a:rPr>
              <a:t>Skilled attackers clear Windows Event Logs and NTFS change journals,
erasing all records of what happened on the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63040" cy="34747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B10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ShadowNet Nexus v5.0 — How It Thinks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AA"/>
                </a:solidFill>
              </a:rPr>
              <a:t>ShadowNet does NOT scan files for known virus signatures.
It observes the BEHAVIOR of the operating system itself — at the hardware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697480" cy="411480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2697480" cy="16459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2FF"/>
                </a:solidFill>
              </a:rPr>
              <a:t>Reads Raw Disk Metal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Opens the hard drive the same way the OS kernel does — bypassing all software layers.
Rootkits and malware literally cannot hide from this.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011680"/>
            <a:ext cx="2697480" cy="411480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2011680"/>
            <a:ext cx="2697480" cy="16459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22402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CC"/>
                </a:solidFill>
              </a:rPr>
              <a:t>Measures Data Randomness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269748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Computes the mathematical entropy of every cluster on the disk.
Ransomware and wipers leave a unique statistical fingerprint that cannot be faked.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2011680"/>
            <a:ext cx="2697480" cy="411480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79" y="2011680"/>
            <a:ext cx="26974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2402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Analyzes Human Heartbeat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69748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Measures the exact nanosecond timing between every keystroke.
Automated bots type at speeds no human can physically match.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2011680"/>
            <a:ext cx="2697480" cy="411480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2011680"/>
            <a:ext cx="2697480" cy="164592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2402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366"/>
                </a:solidFill>
              </a:rPr>
              <a:t>Understands Command 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69748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Sends every detected command to Google Gemini AI.
The AI reads the intent — not just the syntax — and produces a full threat verdict.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63040" cy="34747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B10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7-Layer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09728" cy="50292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66"/>
                </a:solidFill>
              </a:rPr>
              <a:t>Layer 0 — Hardware / OS Kernel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3898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Raw disk handle (CreateFileW)  ·  WMI process events  ·  Low-level keyboard hook (WH_KEYBOARD_LL)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84248"/>
            <a:ext cx="109728" cy="502920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7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000"/>
                </a:solidFill>
              </a:rPr>
              <a:t>Layer 1 — V5 Sensor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048255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NTFS Artifact Parser  ·  Entropy Map Scanner  ·  Real-time Behavior Monitor  ·  File Integrity Monitor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42615"/>
            <a:ext cx="109728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7004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Layer 2 — V4 Detection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06623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Process Monitor (WMI + psutil)  ·  Behavioral Simulation  ·  Alert Deduplication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00983"/>
            <a:ext cx="109728" cy="50292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28415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</a:rPr>
              <a:t>Layer 3 — AI Analysis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64991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Gemini 2.5 Flash Analyzer  ·  Circuit Breaker  ·  Rate Limiter  ·  Keyword Fallback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59351"/>
            <a:ext cx="109728" cy="5029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86783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CC"/>
                </a:solidFill>
              </a:rPr>
              <a:t>Layer 4 — Incident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02335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Emergency Snapshot Engine  ·  Incident Report Generator  ·  Evidence Chain Signer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17719"/>
            <a:ext cx="109728" cy="50292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645151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44FF"/>
                </a:solidFill>
              </a:rPr>
              <a:t>Layer 5 — Resilience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6817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Thread Watchdog (auto-restart)  ·  Forensic Narrative Engine  ·  Hash-Chain Logger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76087"/>
            <a:ext cx="109728" cy="5029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03519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</a:rPr>
              <a:t>Layer 6 —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340095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Live Dashboard (FastAPI)  ·  Health API  ·  SIEM Integration (Splunk / Elastic / Syslog)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63040" cy="347472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B10"/>
                </a:solidFill>
              </a:rPr>
              <a:t>V5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NTFS Artifact Parser — Catching Forgeries on the Raw Disk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7432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61872"/>
            <a:ext cx="5120640" cy="530352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3366"/>
                </a:solidFill>
              </a:rPr>
              <a:t>What It 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66"/>
                </a:solidFill>
              </a:rPr>
              <a:t>◆ $MFT — Master File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39112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Every file record on the disk. Contains
two independent timestamp sets.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328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66"/>
                </a:solidFill>
              </a:rPr>
              <a:t>◆ $STANDARD_INFO ($SI) Timestamps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889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The timestamps visible in Windows Explorer.
Can be changed by any tool via the Windows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826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66"/>
                </a:solidFill>
              </a:rPr>
              <a:t>◆ $FILE_NAME ($FN) Timestamps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5387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Written directly by the kernel during
file creation. CANNOT be altered via 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325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66"/>
                </a:solidFill>
              </a:rPr>
              <a:t>◆ $USN Change Journal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288536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Indestructible log of every file operation.
ShadowNet reads this to detect ghost writes.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823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66"/>
                </a:solidFill>
              </a:rPr>
              <a:t>◆ $LogFile (Transaction Log)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038344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Captures in-progress NTFS transactions.
Corrupted patterns signal aggressive tampering.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1261872"/>
            <a:ext cx="6080760" cy="530352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37160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2FF"/>
                </a:solidFill>
              </a:rPr>
              <a:t>Timestomp Detection Logic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1810512"/>
            <a:ext cx="292608" cy="2560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0B1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1801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</a:rPr>
              <a:t>Step 1 — Open Raw Volume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0574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ShadowNet calls CreateFileW("\\.\\C:") to get a
kernel-level handle, bypassing all OS file APIs.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2651760"/>
            <a:ext cx="292608" cy="2560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0B1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264261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</a:rPr>
              <a:t>Step 2 — Parse MFT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2898648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Scans up to 10,000 MFT records per cycle,
extracting both $SI and $FN timestamps per file.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3493008"/>
            <a:ext cx="292608" cy="2560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0B10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34838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</a:rPr>
              <a:t>Step 3 — Compare Timestamps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373989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If $SI Creation Time is more than 2 seconds
earlier than $FN Creation Time → ANOMALY.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4334256"/>
            <a:ext cx="292608" cy="2560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0B10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43251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</a:rPr>
              <a:t>Step 4 — Cross-check USN Journal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458114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Checks if the file modification appears in the
USN log. No entry = ghost write detected.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5175504"/>
            <a:ext cx="292608" cy="2560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0B10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516635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</a:rPr>
              <a:t>Step 5 — Fire 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542239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TIMESTOMP_CONFIRMED alert fired with full
raw timestamp delta as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63040" cy="34747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B10"/>
                </a:solidFill>
              </a:rPr>
              <a:t>V5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Entropy Map Scanner — Finding Hidden and Wiped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743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11430000" cy="118872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CC"/>
                </a:solidFill>
              </a:rPr>
              <a:t>Shannon Entropy Scale (0 → 8 bits/byte)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3366"/>
                </a:solidFill>
              </a:rPr>
              <a:t>0.0
All-Zero Wipe
(Deleted/Wiped 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64208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AAAA"/>
                </a:solidFill>
              </a:rPr>
              <a:t>3–5
Normal Files
(Text, Executables)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64208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D700"/>
                </a:solidFill>
              </a:rPr>
              <a:t>6–7
Images / Media
(Compressed Data)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664208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FFCC"/>
                </a:solidFill>
              </a:rPr>
              <a:t>~8.0
Encrypted Data
(Ransomware / Hidden Vol)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1664208"/>
            <a:ext cx="1645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AAAAA"/>
                </a:solidFill>
              </a:rPr>
              <a:t>Max
=8.0 bits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33472"/>
            <a:ext cx="5577840" cy="388620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633472"/>
            <a:ext cx="5577840" cy="11887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072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CC"/>
                </a:solidFill>
              </a:rPr>
              <a:t>TRIGGER: Entropy &gt; 7.85 for 50,000+ clusters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272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Hidden Volume / Ransomware Detected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20440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When a massive contiguous run of disk clusters all measure near-perfect mathematical randomness
(entropy &gt; 7.85), ShadowNet concludes that either:
  ▸  An encrypted hidden volume exists here (like VeraCrypt), OR
  ▸  Ransomware is actively encrypting your data in real time.
Alert fired: HIDDEN_VOLUME_CONFIRMED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633472"/>
            <a:ext cx="5577840" cy="388620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633472"/>
            <a:ext cx="5577840" cy="118872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8072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366"/>
                </a:solidFill>
              </a:rPr>
              <a:t>TRIGGER: Entropy &lt; 0.1 for large cluster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272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Wiper / Secure Delete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520440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When a large region of disk measures near-zero entropy (all bytes are identical, usually 0x00),
ShadowNet concludes a data wiper or secure-delete tool has overwritten that region.
  ▸  SDelete, BleachBit, or a custom wiper leaves this exact signature.
  ▸  A Kolmogorov-Smirnov statistical test confirms the uniformity.
Alert fired: WIPE_PATTERN_DETECTED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63040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B10"/>
                </a:solidFill>
              </a:rPr>
              <a:t>V5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Real-time Behavioral Monitor — Human vs. Bot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5486400" cy="525780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Detection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37943"/>
            <a:ext cx="274320" cy="2468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0B1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9656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WH_KEYBOARD_LL 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66543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A Windows low-level keyboard hook intercepts
every key press system-wide at kernel message-pump level.
Each timestamp is recorded in nanoseconds.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52344"/>
            <a:ext cx="274320" cy="2468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0B10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34056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IKI Calculation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8094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Inter-Keystroke Interval (time between key presses)
is extracted in milliseconds using np.diff().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66744"/>
            <a:ext cx="274320" cy="2468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0B10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48456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Statistical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9534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4 metrics computed:
  ▸ Mean IKI (avg speed)
  ▸ StDev (variation)
  ▸ CV = StDev/Mean (relative consistency)
  ▸ Kurtosis (distribution sharpness)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81144"/>
            <a:ext cx="274320" cy="2468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0B10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62856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GMM Bimodal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974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A Gaussian Mixture Model checks if the typing
pattern is bimodal (human — two speed modes)
or unimodal (bot — single mechanical pace).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495544"/>
            <a:ext cx="274320" cy="2468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A0B10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77256"/>
            <a:ext cx="46634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Verdict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2414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BOT_CONFIRMED if 3+ rules trigger:
  ▸ CV &lt; 0.15 (too consistent)
  ▸ StdDev &lt; 20ms (superhuman)
  ▸ Mean &lt; 30ms (physically impossible)
  ▸ High kurtosis burst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298448"/>
            <a:ext cx="5669280" cy="525780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Human vs. Bot — Statistical Signature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8470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AAAA"/>
                </a:solidFill>
              </a:rPr>
              <a:t>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8470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CC"/>
                </a:solidFill>
              </a:rPr>
              <a:t>Human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18470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366"/>
                </a:solidFill>
              </a:rPr>
              <a:t>Automated Bot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67128"/>
            <a:ext cx="5394960" cy="347472"/>
          </a:xfrm>
          <a:prstGeom prst="rect">
            <a:avLst/>
          </a:prstGeom>
          <a:solidFill>
            <a:srgbClr val="18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22199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Typing Speed (Mean IKI)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2219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FFCC"/>
                </a:solidFill>
              </a:rPr>
              <a:t>80–200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2219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3366"/>
                </a:solidFill>
              </a:rPr>
              <a:t>10–40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624328"/>
            <a:ext cx="5394960" cy="347472"/>
          </a:xfrm>
          <a:prstGeom prst="rect">
            <a:avLst/>
          </a:prstGeom>
          <a:solidFill>
            <a:srgbClr val="18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67919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Variation (StDev)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6791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FFCC"/>
                </a:solidFill>
              </a:rPr>
              <a:t>30–80 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26791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3366"/>
                </a:solidFill>
              </a:rPr>
              <a:t>&lt; 5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3081528"/>
            <a:ext cx="5394960" cy="347472"/>
          </a:xfrm>
          <a:prstGeom prst="rect">
            <a:avLst/>
          </a:prstGeom>
          <a:solidFill>
            <a:srgbClr val="18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13639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Pattern Shape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136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FFCC"/>
                </a:solidFill>
              </a:rPr>
              <a:t>Bimodal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31363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3366"/>
                </a:solidFill>
              </a:rPr>
              <a:t>Unimodal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3538728"/>
            <a:ext cx="5394960" cy="347472"/>
          </a:xfrm>
          <a:prstGeom prst="rect">
            <a:avLst/>
          </a:prstGeom>
          <a:solidFill>
            <a:srgbClr val="18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59359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Coeff. of Variation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5935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FFCC"/>
                </a:solidFill>
              </a:rPr>
              <a:t>&gt; 0.25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35935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3366"/>
                </a:solidFill>
              </a:rPr>
              <a:t>&lt; 0.10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3995928"/>
            <a:ext cx="5394960" cy="347472"/>
          </a:xfrm>
          <a:prstGeom prst="rect">
            <a:avLst/>
          </a:prstGeom>
          <a:solidFill>
            <a:srgbClr val="18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050791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Kurtosis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050791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FFCC"/>
                </a:solidFill>
              </a:rPr>
              <a:t>Low / Normal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405079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3366"/>
                </a:solidFill>
              </a:rPr>
              <a:t>Very 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4453128"/>
            <a:ext cx="5394960" cy="347472"/>
          </a:xfrm>
          <a:prstGeom prst="rect">
            <a:avLst/>
          </a:prstGeom>
          <a:solidFill>
            <a:srgbClr val="18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450799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Physically Possible?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5079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FFCC"/>
                </a:solidFill>
              </a:rPr>
              <a:t>Yes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29800" y="45079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3366"/>
                </a:solidFill>
              </a:rPr>
              <a:t>Often 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63040" cy="34747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B10"/>
                </a:solidFill>
              </a:rPr>
              <a:t>V5 MODULES 4 &amp;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Process Monitor + File Integrity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5669280" cy="523036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5669280" cy="146304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2FF"/>
                </a:solidFill>
              </a:rPr>
              <a:t>V4 Process Monitor — Dual Interception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</a:rPr>
              <a:t>▸  WMI Subscription (Instant)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Subscribes to Win32_Process creation events via Windows Management
Instrumentation. The OS notifies ShadowNet the instant a process starts.
Timeout: 500ms max wait per event cycle.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</a:rPr>
              <a:t>▸  psutil Polling (Backup, 10ms)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3639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 second thread independently polls all running PIDs every 10ms
as a fallback in case WMI misses a short-lived process.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</a:rPr>
              <a:t>▸  Command-Line Keyword Matching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The full command-line string is matched against 40+ suspicious keywords
from config (vssadmin, mimikatz, wevtutil, certutil, -Enc, etc.).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2FF"/>
                </a:solidFill>
              </a:rPr>
              <a:t>▸  AI Analysis &amp;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5663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 match triggers: Emergency Snapshot → Gemini AI analysis →
Markdown incident report → SIEM forwarding.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98448"/>
            <a:ext cx="5577840" cy="523036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298448"/>
            <a:ext cx="5577840" cy="146304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508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CC"/>
                </a:solidFill>
              </a:rPr>
              <a:t>File Integrity Monitor (FIM) — Real-Time File 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20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CC"/>
                </a:solidFill>
              </a:rPr>
              <a:t>▸  OS Hook (Not Polling)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7627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Uses the 'watchdog' library to install an OS-level filesystem
notification hook. No delay — events arrive in real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34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CC"/>
                </a:solidFill>
              </a:rPr>
              <a:t>▸  Monitored Directory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09067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Configurable path (e.g. C:/Users/Desktop). ShadowNet watches
the entire directory tree recursively.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4903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CC"/>
                </a:solidFill>
              </a:rPr>
              <a:t>▸  Suspicious Extensions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0507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Any .exe, .dll, .ps1, .bat, or .sh file being Created, Modified,
or Moved triggers an immediate FIM alert.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63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CC"/>
                </a:solidFill>
              </a:rPr>
              <a:t>▸  Always Flag Deletions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1947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ANY file being deleted — regardless of type — is always flagged.
Mass deletion is a primary signature of wiper malware.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577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CC"/>
                </a:solidFill>
              </a:rPr>
              <a:t>▸  No Admin 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83387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FIM works at normal user privilege. Unlike NTFS and Entropy scanners,
it does not need raw disk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63040" cy="347472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B10"/>
                </a:solidFill>
              </a:rPr>
              <a:t>AI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Gemini AI Analysis Engine — Intent Over Signature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7432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691640" cy="132588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389888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Suspicious
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9112" y="17830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325880"/>
            <a:ext cx="1691640" cy="1325880"/>
          </a:xfrm>
          <a:prstGeom prst="rect">
            <a:avLst/>
          </a:prstGeom>
          <a:solidFill>
            <a:srgbClr val="44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389888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Rate
Limiter
20 RPM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9352" y="17830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325880"/>
            <a:ext cx="1691640" cy="1325880"/>
          </a:xfrm>
          <a:prstGeom prst="rect">
            <a:avLst/>
          </a:prstGeom>
          <a:solidFill>
            <a:srgbClr val="44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389888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Circuit
Breaker
3-State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9592" y="17830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325880"/>
            <a:ext cx="1691640" cy="1325880"/>
          </a:xfrm>
          <a:prstGeom prst="rect">
            <a:avLst/>
          </a:prstGeom>
          <a:solidFill>
            <a:srgbClr val="44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389888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Cache
Check
24hr TTL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9832" y="17830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325880"/>
            <a:ext cx="1691640" cy="132588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389888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Gemini
2.5 Flash
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72" y="17830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1325880"/>
            <a:ext cx="1691640" cy="132588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1389888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Structured
Verdict
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834640"/>
            <a:ext cx="5806440" cy="65836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29077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366"/>
                </a:solidFill>
              </a:rPr>
              <a:t>⚡  Fallback Engine (when AI unavailable)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200400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If Rate Limited or Circuit OPEN → Keyword Fallback Engine fires automatically. V5 anomalies (NTFS/Entropy) always get HIGH severity at 90% confidence.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57600"/>
            <a:ext cx="11430000" cy="29260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49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44FF"/>
                </a:solidFill>
              </a:rPr>
              <a:t>What Gemini Returns — Structured JSON Verdict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2FF"/>
                </a:solidFill>
              </a:rPr>
              <a:t>is_anti_forensics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true / false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Is this command attempt a forensic attack?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07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2FF"/>
                </a:solidFill>
              </a:rPr>
              <a:t>severity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07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CRITICAL / HIGH / MEDIUM / 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507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How dangerous is this?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554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2FF"/>
                </a:solidFill>
              </a:rPr>
              <a:t>category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855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e.g. anti_forensics, credential_theft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8554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Attack 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029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2FF"/>
                </a:solidFill>
              </a:rPr>
              <a:t>confidence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202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0.0 → 1.0 float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520293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How confident is the AI in its verdict?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5040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2FF"/>
                </a:solidFill>
              </a:rPr>
              <a:t>mitre_attack_ttps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555040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e.g. T1070.001, T1003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55040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MITRE ATT&amp;CK technique codes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8978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2FF"/>
                </a:solidFill>
              </a:rPr>
              <a:t>explanation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8978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Plain English string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8978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What the command is doing and why it's suspicious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24535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2FF"/>
                </a:solidFill>
              </a:rPr>
              <a:t>recommended_action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624535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immediate_containment / monitor /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624535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Suggested next step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63040" cy="347472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B10"/>
                </a:solidFill>
              </a:rPr>
              <a:t>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End-to-End: From Detection to Report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7432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828800" cy="20116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828800" cy="137160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5179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3366"/>
                </a:solidFill>
              </a:rPr>
              <a:t>T+0ms
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57400"/>
            <a:ext cx="16642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Process Monitor, NTFS Parser, Entropy Scanner, or
FIM fires. Alert sent to deduplication layer.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214884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3432" y="1325880"/>
            <a:ext cx="1828800" cy="20116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3432" y="1325880"/>
            <a:ext cx="1828800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6584" y="15179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T+1ms
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2057400"/>
            <a:ext cx="16642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Emergency Snapshot Engine fires 10 parallel threads
capturing: process tree, event logs, network connections.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14884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325880"/>
            <a:ext cx="1828800" cy="20116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325880"/>
            <a:ext cx="1828800" cy="13716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5179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2FF"/>
                </a:solidFill>
              </a:rPr>
              <a:t>T+50ms
AI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2057400"/>
            <a:ext cx="16642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Command or anomaly evidence sent to Gemini 2.5 Flash.
Structured JSON verdict returned in ~2 seconds.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14884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216" y="1325880"/>
            <a:ext cx="1828800" cy="20116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0216" y="1325880"/>
            <a:ext cx="1828800" cy="13716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15179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CC"/>
                </a:solidFill>
              </a:rPr>
              <a:t>T+3s
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057400"/>
            <a:ext cx="16642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Full Markdown incident report written to:
evidence/incidents/&lt;ID&gt;/incident.md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214884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93608" y="1325880"/>
            <a:ext cx="1828800" cy="20116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93608" y="1325880"/>
            <a:ext cx="1828800" cy="13716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5179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44FF"/>
                </a:solidFill>
              </a:rPr>
              <a:t>T+5s
CHAIN 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2057400"/>
            <a:ext cx="16642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SHA-256 hash of every file in the snapshot
written to manifest.json for tamper-proof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0696" y="214884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87000" y="1325880"/>
            <a:ext cx="1828800" cy="20116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287000" y="1325880"/>
            <a:ext cx="1828800" cy="1371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0152" y="1517904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AAAAA"/>
                </a:solidFill>
              </a:rPr>
              <a:t>T+60s
NARRATIVE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2057400"/>
            <a:ext cx="16642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</a:rPr>
              <a:t>Forensic Narrative Engine synthesizes ALL findings
into a unified attack story using Gemini AI.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20440"/>
            <a:ext cx="11430000" cy="29260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2FF"/>
                </a:solidFill>
              </a:rPr>
              <a:t>Evidence Output — What Gets Saved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0050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FFD700"/>
                </a:solidFill>
              </a:rPr>
              <a:t>evidence/incidents/&lt;ID&gt;/incident.md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005072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Full Markdown report: severity, MITRE codes, AI explanation, evidence list, recommended actions.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44398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FFD700"/>
                </a:solidFill>
              </a:rPr>
              <a:t>evidence/emergency_snapshots/&lt;ID&gt;/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443983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Folder containing: process_tree.json, event_logs.txt, network_state.json, metadata.json, manifest.json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8828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FFD700"/>
                </a:solidFill>
              </a:rPr>
              <a:t>evidence/logs/forensic_findings.jsonl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488289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SHA-256 hash-chain log of all FORENSIC events. Tampering with any entry breaks the chain.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3218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FFD700"/>
                </a:solidFill>
              </a:rPr>
              <a:t>evidence/artifacts/ntfs_inconsistencies.jsonl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532180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Raw timestomp evidence: file path, $SI timestamp, $FN timestamp, delta in seconds.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760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FFD700"/>
                </a:solidFill>
              </a:rPr>
              <a:t>evidence/reports/forensic_narrative_&lt;TS&gt;.md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760720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AAAA"/>
                </a:solidFill>
              </a:rPr>
              <a:t>AI-synthesized unified attack narrative with MITRE timeline, corroboration map, evidence gaps.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63040" cy="34747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B10"/>
                </a:solidFill>
              </a:rPr>
              <a:t>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Self-Healing System — It Doesn't Just Monitor, It Survives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11274552" cy="27432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5486400" cy="274320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08176"/>
            <a:ext cx="5248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CC"/>
                </a:solidFill>
              </a:rPr>
              <a:t>Thread Watchdog (core/watchdog.py)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37360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All 4 sensor modules run as independent threads registered with the Watchdog.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11679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Watchdog checks heartbeats every 5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285999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Dead or timed-out thread → factory called → fresh thread started.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560319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Crash-loop detection: thread dies &lt; 10s after restart → +2 restart penalty.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834639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Exponential backoff: 2s → 4s → 8s ... up to 120s max.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108959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After 10 restarts → module marked permanently dead, CRITICAL log fired.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5486400" cy="256032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270248"/>
            <a:ext cx="5248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CC"/>
                </a:solidFill>
              </a:rPr>
              <a:t>Alert Deduplication (core/alert_deduplication.py)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599431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SHA-256 fingerprint computed from alert type + key data fields.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873751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If identical fingerprint seen in last 5 minutes → alert suppressed.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5148071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Prevents hundreds of identical incidents from a single event.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5422391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LRU cache capped at 1,000 fingerprints. Oldest removed when full.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298448"/>
            <a:ext cx="5760720" cy="224028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1408176"/>
            <a:ext cx="5522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2FF"/>
                </a:solidFill>
              </a:rPr>
              <a:t>Circuit Breaker (3 States)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1737360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CLOSED → Normal. All API requests pass through.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011679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OPEN → 5+ consecutive failures. API bypassed. Keyword Fallback active.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2285999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HALF-OPEN → After 5min timeout. One test request sent to API.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2560319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Success → returns to CLOSED. Failure → reopens for another 5 minutes.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657600"/>
            <a:ext cx="5760720" cy="30632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3767328"/>
            <a:ext cx="5522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Hash-Chain Tamper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4096512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Every FORENSIC log entry hashes the previous entry (SHA-256).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4370832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Forms a blockchain-style chain through all log entries.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4645152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If any log entry is modified or deleted retroactively,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4919472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the chain breaks at that exact sequence number.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5193792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Verified at every startup via verify_log_chain().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5468112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Also verified: every evidence snapshot via manifest.json comparison.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1463040" cy="34747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A0B10"/>
                </a:solidFill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What Makes ShadowNet v5.0 Unique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11274552" cy="27432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1353312"/>
            <a:ext cx="3703320" cy="14630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353312"/>
            <a:ext cx="3703320" cy="109728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1790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2FF"/>
                </a:solidFill>
              </a:rPr>
              <a:t>Live $MFT Parsing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65376"/>
            <a:ext cx="3429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Parses raw NTFS binary structures without a disk image, on a live running 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353312"/>
            <a:ext cx="3703320" cy="14630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353312"/>
            <a:ext cx="3703320" cy="10972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51790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CC"/>
                </a:solidFill>
              </a:rPr>
              <a:t>Entropy K-S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865376"/>
            <a:ext cx="3429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Cluster-level statistical uniformity test (Kolmogorov-Smirnov) for wipe/ransomware detection.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11312" y="1353312"/>
            <a:ext cx="3703320" cy="14630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11312" y="1353312"/>
            <a:ext cx="370332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51790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GMM Bot 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1865376"/>
            <a:ext cx="3429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Gaussian Mixture Model bimodal test distinguishes human from automated input.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017520"/>
            <a:ext cx="3703320" cy="14630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" y="3017520"/>
            <a:ext cx="3703320" cy="109728"/>
          </a:xfrm>
          <a:prstGeom prst="rect">
            <a:avLst/>
          </a:prstGeom>
          <a:solidFill>
            <a:srgbClr val="FF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3182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366"/>
                </a:solidFill>
              </a:rPr>
              <a:t>LLM Narrative Synthesis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529584"/>
            <a:ext cx="3429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Correlates NTFS + Entropy + Behavioral + Process findings into a single AI-authored attack story.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3017520"/>
            <a:ext cx="3703320" cy="14630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9392" y="3017520"/>
            <a:ext cx="3703320" cy="109728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3182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A44FF"/>
                </a:solidFill>
              </a:rPr>
              <a:t>Triple-Fallback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3529584"/>
            <a:ext cx="3429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Circuit Breaker → Rate Limiter → Keyword Engine. Reports are ALWAYS generated.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11312" y="3017520"/>
            <a:ext cx="3703320" cy="14630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11312" y="3017520"/>
            <a:ext cx="3703320" cy="109728"/>
          </a:xfrm>
          <a:prstGeom prst="rect">
            <a:avLst/>
          </a:prstGeom>
          <a:solidFill>
            <a:srgbClr val="FF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3182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00"/>
                </a:solidFill>
              </a:rPr>
              <a:t>Crash-Loop Watchdog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3529584"/>
            <a:ext cx="3429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</a:rPr>
              <a:t>Detects crash-looping threads within 10s and applies exponential penalty backoff.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74920"/>
            <a:ext cx="11430000" cy="1463040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48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2FF"/>
                </a:solidFill>
              </a:rPr>
              <a:t>Technology Stack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532120"/>
            <a:ext cx="1316736" cy="29260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AAAAA"/>
                </a:solidFill>
              </a:rPr>
              <a:t>Python 3.10+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11095" y="5532120"/>
            <a:ext cx="2272284" cy="29260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0F2FF"/>
                </a:solidFill>
              </a:rPr>
              <a:t>Google Gemini 2.5 Flash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540" y="5532120"/>
            <a:ext cx="1577340" cy="29260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D700"/>
                </a:solidFill>
              </a:rPr>
              <a:t>ctypes / WinAPI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5532120"/>
            <a:ext cx="1403604" cy="29260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0FFCC"/>
                </a:solidFill>
              </a:rPr>
              <a:t>numpy / scipy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75804" y="5532120"/>
            <a:ext cx="1837943" cy="29260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0FFCC"/>
                </a:solidFill>
              </a:rPr>
              <a:t>scikit-learn (GMM)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50908" y="5532120"/>
            <a:ext cx="1751076" cy="29260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00F2FF"/>
                </a:solidFill>
              </a:rPr>
              <a:t>FastAPI + uvicorn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9144" y="5532120"/>
            <a:ext cx="1316736" cy="29260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AAAAA"/>
                </a:solidFill>
              </a:rPr>
              <a:t>psutil + WMI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93040" y="5532120"/>
            <a:ext cx="1490472" cy="29260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AAAAA"/>
                </a:solidFill>
              </a:rPr>
              <a:t>watchdog (FIM)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520672" y="5532120"/>
            <a:ext cx="1403604" cy="29260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AAAAA"/>
                </a:solidFill>
              </a:rPr>
              <a:t>python-dotenv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61435" y="5532120"/>
            <a:ext cx="1751076" cy="292608"/>
          </a:xfrm>
          <a:prstGeom prst="rect">
            <a:avLst/>
          </a:prstGeom>
          <a:solidFill>
            <a:srgbClr val="12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D700"/>
                </a:solidFill>
              </a:rPr>
              <a:t>SHA-256 / hashlib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